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19.png"/><Relationship Id="rId9" Type="http://schemas.openxmlformats.org/officeDocument/2006/relationships/image" Target="../media/image20.png"/><Relationship Id="rId10" Type="http://schemas.openxmlformats.org/officeDocument/2006/relationships/image" Target="../media/image2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163216"/>
            <a:ext cx="11049000" cy="2762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2591841"/>
            <a:ext cx="11601450" cy="12266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830"/>
              </a:lnSpc>
            </a:pPr>
            <a:r>
              <a:rPr b="1" sz="4200" i="0" u="none">
                <a:solidFill>
                  <a:srgbClr val="FFFFFF"/>
                </a:solidFill>
                <a:latin typeface="Plus Jakarta Sans"/>
              </a:rPr>
              <a:t>Malaria Symptom</a:t>
            </a:r>
            <a:r>
              <a:t>
</a:t>
            </a:r>
            <a:r>
              <a:rPr b="1" sz="4200" i="0" u="none">
                <a:solidFill>
                  <a:srgbClr val="FFFFFF"/>
                </a:solidFill>
                <a:latin typeface="Plus Jakarta Sans"/>
              </a:rPr>
              <a:t> Triage Helper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4008983"/>
            <a:ext cx="7620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Inter"/>
              </a:rPr>
              <a:t>A binary classification pipeline designed for early identification of severe malaria cases using WHO clinical criteria and Random Forest machine learning.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321718"/>
            <a:ext cx="3530649" cy="2909887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0749" y="2321718"/>
            <a:ext cx="3530649" cy="290988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9999" y="2321718"/>
            <a:ext cx="3530649" cy="290988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725" y="2597943"/>
            <a:ext cx="495300" cy="4953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7725" y="3264693"/>
            <a:ext cx="3127109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0369A1"/>
                </a:solidFill>
                <a:latin typeface="Plus Jakarta Sans SemiBold"/>
              </a:rPr>
              <a:t>Core Mission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7725" y="3626643"/>
            <a:ext cx="2978199" cy="12144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Inter"/>
              </a:rPr>
              <a:t>Develop an AI clinical decision support tool optimized for </a:t>
            </a:r>
            <a:r>
              <a:rPr b="1" sz="1275" i="0" u="none">
                <a:solidFill>
                  <a:srgbClr val="334155"/>
                </a:solidFill>
                <a:latin typeface="Inter"/>
              </a:rPr>
              <a:t>high sensitivity (Recall)</a:t>
            </a:r>
            <a:r>
              <a:rPr b="0" sz="1275" i="0" u="none">
                <a:solidFill>
                  <a:srgbClr val="334155"/>
                </a:solidFill>
                <a:latin typeface="Inter"/>
              </a:rPr>
              <a:t> to eliminate missed severe malaria cases during primary patient triage.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06974" y="2597943"/>
            <a:ext cx="495300" cy="4953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606974" y="3264693"/>
            <a:ext cx="3127109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0369A1"/>
                </a:solidFill>
                <a:latin typeface="Plus Jakarta Sans SemiBold"/>
              </a:rPr>
              <a:t>WHO Indicators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06974" y="3626643"/>
            <a:ext cx="2978199" cy="12144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Inter"/>
              </a:rPr>
              <a:t>Engineered specific clinical features including </a:t>
            </a:r>
            <a:r>
              <a:rPr b="0" sz="1275" i="1" u="none">
                <a:solidFill>
                  <a:srgbClr val="334155"/>
                </a:solidFill>
                <a:latin typeface="Inter"/>
              </a:rPr>
              <a:t>neurological risk</a:t>
            </a:r>
            <a:r>
              <a:rPr b="0" sz="1275" i="0" u="none">
                <a:solidFill>
                  <a:srgbClr val="334155"/>
                </a:solidFill>
                <a:latin typeface="Inter"/>
              </a:rPr>
              <a:t> and </a:t>
            </a:r>
            <a:r>
              <a:rPr b="0" sz="1275" i="1" u="none">
                <a:solidFill>
                  <a:srgbClr val="334155"/>
                </a:solidFill>
                <a:latin typeface="Inter"/>
              </a:rPr>
              <a:t>severe anemia indicators</a:t>
            </a:r>
            <a:r>
              <a:rPr b="0" sz="1275" i="0" u="none">
                <a:solidFill>
                  <a:srgbClr val="334155"/>
                </a:solidFill>
                <a:latin typeface="Inter"/>
              </a:rPr>
              <a:t> derived directly from standard WHO diagnosis guidelines.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66224" y="2597943"/>
            <a:ext cx="495300" cy="4953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366224" y="3264693"/>
            <a:ext cx="3127109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0369A1"/>
                </a:solidFill>
                <a:latin typeface="Plus Jakarta Sans SemiBold"/>
              </a:rPr>
              <a:t>Clinical Safety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224" y="3626643"/>
            <a:ext cx="2978199" cy="12144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Inter"/>
              </a:rPr>
              <a:t>Provides actionable risk probability scores as a </a:t>
            </a:r>
            <a:r>
              <a:rPr b="1" sz="1275" i="0" u="none">
                <a:solidFill>
                  <a:srgbClr val="334155"/>
                </a:solidFill>
                <a:latin typeface="Inter"/>
              </a:rPr>
              <a:t>support assistant</a:t>
            </a:r>
            <a:r>
              <a:rPr b="0" sz="1275" i="0" u="none">
                <a:solidFill>
                  <a:srgbClr val="334155"/>
                </a:solidFill>
                <a:latin typeface="Inter"/>
              </a:rPr>
              <a:t> to empower triage officers, ensuring patient safety through verified predictions.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1550" y="2721768"/>
            <a:ext cx="247650" cy="2476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97462" y="2721768"/>
            <a:ext cx="314325" cy="2476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90049" y="2721768"/>
            <a:ext cx="247650" cy="2476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Executive Presentation Brief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2271712"/>
            <a:ext cx="56007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0369A1"/>
                </a:solidFill>
                <a:latin typeface="Plus Jakarta Sans SemiBold"/>
              </a:rPr>
              <a:t>Rapid Progression &amp; Risk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2633662"/>
            <a:ext cx="53340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Inter"/>
              </a:rPr>
              <a:t>Malaria rapidly escalates from uncomplicated fever to severe organ failure or cerebral damage if unrecognized.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0" y="1966912"/>
            <a:ext cx="5334000" cy="3619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309937"/>
            <a:ext cx="49911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34155"/>
                </a:solidFill>
                <a:latin typeface="Inter"/>
              </a:rPr>
              <a:t>Triage Delay:</a:t>
            </a:r>
            <a:r>
              <a:rPr b="0" sz="1275" i="0" u="none">
                <a:solidFill>
                  <a:srgbClr val="334155"/>
                </a:solidFill>
                <a:latin typeface="Inter"/>
              </a:rPr>
              <a:t> Symptom overlap leads to dangerous misclassification in busy clinics.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67162"/>
            <a:ext cx="49911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34155"/>
                </a:solidFill>
                <a:latin typeface="Inter"/>
              </a:rPr>
              <a:t>Critical Need:</a:t>
            </a:r>
            <a:r>
              <a:rPr b="0" sz="1275" i="0" u="none">
                <a:solidFill>
                  <a:srgbClr val="334155"/>
                </a:solidFill>
                <a:latin typeface="Inter"/>
              </a:rPr>
              <a:t> High sensitivity system to flag high-risk patients immediately upon arrival.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624387"/>
            <a:ext cx="49911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34155"/>
                </a:solidFill>
                <a:latin typeface="Inter"/>
              </a:rPr>
              <a:t>Decision Support:</a:t>
            </a:r>
            <a:r>
              <a:rPr b="0" sz="1275" i="0" u="none">
                <a:solidFill>
                  <a:srgbClr val="334155"/>
                </a:solidFill>
                <a:latin typeface="Inter"/>
              </a:rPr>
              <a:t> Assisting healthcare staff with probability-backed triage prioritization.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333750"/>
            <a:ext cx="190500" cy="2000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990975"/>
            <a:ext cx="190500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648200"/>
            <a:ext cx="171450" cy="2000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Clinical Triage Challenge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443162"/>
            <a:ext cx="3530649" cy="2667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0749" y="2443162"/>
            <a:ext cx="3530649" cy="2667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9999" y="2443162"/>
            <a:ext cx="3530649" cy="2667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725" y="2719387"/>
            <a:ext cx="495300" cy="4953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7725" y="3386137"/>
            <a:ext cx="3127109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0369A1"/>
                </a:solidFill>
                <a:latin typeface="Plus Jakarta Sans SemiBold"/>
              </a:rPr>
              <a:t>Neurological 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7725" y="3748087"/>
            <a:ext cx="2978199" cy="971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Inter"/>
              </a:rPr>
              <a:t>Combines clinical signs of </a:t>
            </a:r>
            <a:r>
              <a:rPr b="1" sz="1275" i="0" u="none">
                <a:solidFill>
                  <a:srgbClr val="334155"/>
                </a:solidFill>
                <a:latin typeface="Inter"/>
              </a:rPr>
              <a:t>convulsions</a:t>
            </a:r>
            <a:r>
              <a:rPr b="0" sz="1275" i="0" u="none">
                <a:solidFill>
                  <a:srgbClr val="334155"/>
                </a:solidFill>
                <a:latin typeface="Inter"/>
              </a:rPr>
              <a:t> and </a:t>
            </a:r>
            <a:r>
              <a:rPr b="1" sz="1275" i="0" u="none">
                <a:solidFill>
                  <a:srgbClr val="334155"/>
                </a:solidFill>
                <a:latin typeface="Inter"/>
              </a:rPr>
              <a:t>prostration</a:t>
            </a:r>
            <a:r>
              <a:rPr b="0" sz="1275" i="0" u="none">
                <a:solidFill>
                  <a:srgbClr val="334155"/>
                </a:solidFill>
                <a:latin typeface="Inter"/>
              </a:rPr>
              <a:t> (inability to sit or stand) to detect early cerebral complications.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06974" y="2719387"/>
            <a:ext cx="495300" cy="4953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606974" y="3386137"/>
            <a:ext cx="3127109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0369A1"/>
                </a:solidFill>
                <a:latin typeface="Plus Jakarta Sans SemiBold"/>
              </a:rPr>
              <a:t>Severe Anemia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06974" y="3748087"/>
            <a:ext cx="2978199" cy="971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Inter"/>
              </a:rPr>
              <a:t>Monitors critical hemoglobin thresholds (&lt; 5 g/dL in children, &lt; 7 g/dL in adults) along with clinical pallor and parasite density.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66224" y="2719387"/>
            <a:ext cx="495300" cy="4953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366224" y="3386137"/>
            <a:ext cx="3127109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0369A1"/>
                </a:solidFill>
                <a:latin typeface="Plus Jakarta Sans SemiBold"/>
              </a:rPr>
              <a:t>Systemic Signs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224" y="3748087"/>
            <a:ext cx="2978199" cy="971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Inter"/>
              </a:rPr>
              <a:t>Tracks severe hyperpyrexia, persistent vomiting, jaundice, and acidotic breathing patterns across age demographics.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1550" y="2843212"/>
            <a:ext cx="247650" cy="2476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59374" y="2843212"/>
            <a:ext cx="190500" cy="2476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90049" y="2843212"/>
            <a:ext cx="247650" cy="2476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WHO Severe Malaria Criteria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571500"/>
            <a:ext cx="560070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Clinical Feature Engineering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0" y="0"/>
            <a:ext cx="59055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2833985"/>
            <a:ext cx="56007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0369A1"/>
                </a:solidFill>
                <a:latin typeface="Plus Jakarta Sans SemiBold"/>
              </a:rPr>
              <a:t>Eliminating Age Bias &amp; Leakage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3195935"/>
            <a:ext cx="5334000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334155"/>
                </a:solidFill>
                <a:latin typeface="Inter"/>
              </a:rPr>
              <a:t>Initial model evaluations relied heavily on patient age, causing false confidence while ignoring acute clinical red flags.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3828157"/>
            <a:ext cx="5334000" cy="7768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334155"/>
                </a:solidFill>
                <a:latin typeface="Inter"/>
              </a:rPr>
              <a:t>By engineering interaction terms (e.g., </a:t>
            </a:r>
            <a:r>
              <a:rPr b="0" sz="1275" i="1" u="none">
                <a:solidFill>
                  <a:srgbClr val="334155"/>
                </a:solidFill>
                <a:latin typeface="Inter"/>
              </a:rPr>
              <a:t>Fever + Convulsion</a:t>
            </a:r>
            <a:r>
              <a:rPr b="0" sz="1275" i="0" u="none">
                <a:solidFill>
                  <a:srgbClr val="334155"/>
                </a:solidFill>
                <a:latin typeface="Inter"/>
              </a:rPr>
              <a:t>) and aligning indicators with WHO guidelines, our refined pipeline shifted priority back to vital clinical symptoms.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171575"/>
            <a:ext cx="11049000" cy="521017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00200" y="4950618"/>
            <a:ext cx="8991600" cy="2428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12"/>
              </a:lnSpc>
            </a:pPr>
            <a:r>
              <a:rPr b="0" sz="1275" i="1" u="none">
                <a:solidFill>
                  <a:srgbClr val="334155"/>
                </a:solidFill>
                <a:latin typeface="Inter"/>
              </a:rPr>
              <a:t>Dataset analysis (337 records from clinical cohorts) highlights core clinical presentation frequencies in patient triage.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Dataset Symptom Distribution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3757612"/>
            <a:ext cx="1104900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7968" y="4062412"/>
            <a:ext cx="2668302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284C7"/>
                </a:solidFill>
                <a:latin typeface="Plus Jakarta Sans"/>
              </a:rPr>
              <a:t>1. Data Cleaning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4376737"/>
            <a:ext cx="254124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b="0" sz="1050" i="0" u="none">
                <a:solidFill>
                  <a:srgbClr val="334155"/>
                </a:solidFill>
                <a:latin typeface="Inter"/>
              </a:rPr>
              <a:t>Deduplication and feature type formatting on patient clinical records.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43888" y="2662237"/>
            <a:ext cx="2668302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284C7"/>
                </a:solidFill>
                <a:latin typeface="Plus Jakarta Sans"/>
              </a:rPr>
              <a:t>2. Feature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07419" y="2976562"/>
            <a:ext cx="254124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b="0" sz="1050" i="0" u="none">
                <a:solidFill>
                  <a:srgbClr val="334155"/>
                </a:solidFill>
                <a:latin typeface="Inter"/>
              </a:rPr>
              <a:t>WHO-aligned clinical indicators and symptom interaction terms created.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9808" y="4062412"/>
            <a:ext cx="2668302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284C7"/>
                </a:solidFill>
                <a:latin typeface="Plus Jakarta Sans"/>
              </a:rPr>
              <a:t>3. Pipeline Preprocessing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43339" y="4376737"/>
            <a:ext cx="254124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b="0" sz="1050" i="0" u="none">
                <a:solidFill>
                  <a:srgbClr val="334155"/>
                </a:solidFill>
                <a:latin typeface="Inter"/>
              </a:rPr>
              <a:t>One-Hot Encoding and Scaling wrapped inside ColumnTransformer to prevent leakage.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5728" y="2462212"/>
            <a:ext cx="2668302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284C7"/>
                </a:solidFill>
                <a:latin typeface="Plus Jakarta Sans"/>
              </a:rPr>
              <a:t>4. GridSearch Optimization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79259" y="2776537"/>
            <a:ext cx="254124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b="0" sz="1050" i="0" u="none">
                <a:solidFill>
                  <a:srgbClr val="334155"/>
                </a:solidFill>
                <a:latin typeface="Inter"/>
              </a:rPr>
              <a:t>Stratified K-Fold CV tuning Random Forest hyperparameters for Recall optimization.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End-to-End ML Pipeline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746870" y="368141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82790" y="368141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18709" y="368141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254629" y="368141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757487"/>
            <a:ext cx="5334000" cy="20383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62025" y="3148012"/>
            <a:ext cx="455295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b="0" sz="7200" i="0" u="none">
                <a:solidFill>
                  <a:srgbClr val="0284C7"/>
                </a:solidFill>
                <a:latin typeface="Plus Jakarta Sans ExtraBold"/>
              </a:rPr>
              <a:t>Recall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2025" y="4176712"/>
            <a:ext cx="45529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Inter"/>
              </a:rPr>
              <a:t>Primary Optimization Metric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86500" y="2619375"/>
            <a:ext cx="56007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0369A1"/>
                </a:solidFill>
                <a:latin typeface="Plus Jakarta Sans SemiBold"/>
              </a:rPr>
              <a:t>Minimizing False Negatives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86500" y="2981325"/>
            <a:ext cx="5334000" cy="728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Inter"/>
              </a:rPr>
              <a:t>In clinical triage, a </a:t>
            </a:r>
            <a:r>
              <a:rPr b="1" sz="1275" i="0" u="none">
                <a:solidFill>
                  <a:srgbClr val="334155"/>
                </a:solidFill>
                <a:latin typeface="Inter"/>
              </a:rPr>
              <a:t>False Negative</a:t>
            </a:r>
            <a:r>
              <a:rPr b="0" sz="1275" i="0" u="none">
                <a:solidFill>
                  <a:srgbClr val="334155"/>
                </a:solidFill>
                <a:latin typeface="Inter"/>
              </a:rPr>
              <a:t> (failing to identify severe malaria) can lead to patient mortality, whereas a False Positive simply results in secondary medical review.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862387"/>
            <a:ext cx="49911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Inter"/>
              </a:rPr>
              <a:t>Class Weight Balancing (</a:t>
            </a:r>
            <a:r>
              <a:rPr b="0" sz="1275" i="0" u="none">
                <a:solidFill>
                  <a:srgbClr val="334155"/>
                </a:solidFill>
                <a:latin typeface="Inter"/>
              </a:rPr>
              <a:t>class_weight='balanced'</a:t>
            </a:r>
            <a:r>
              <a:rPr b="0" sz="1275" i="0" u="none">
                <a:solidFill>
                  <a:srgbClr val="334155"/>
                </a:solidFill>
                <a:latin typeface="Inter"/>
              </a:rPr>
              <a:t>) added to model.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4519612"/>
            <a:ext cx="4991100" cy="2428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Inter"/>
              </a:rPr>
              <a:t>Triage probability thresholds adjusted to maximize sensitivity.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3886200"/>
            <a:ext cx="171450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4543425"/>
            <a:ext cx="190500" cy="2000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Optimization for High Sensitivity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571500" y="2390775"/>
          <a:ext cx="11048998" cy="2771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657772"/>
                <a:gridCol w="2100560"/>
                <a:gridCol w="1439019"/>
                <a:gridCol w="1949797"/>
                <a:gridCol w="2901850"/>
              </a:tblGrid>
              <a:tr h="554355"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FFFFFF"/>
                          </a:solidFill>
                          <a:latin typeface="Plus Jakarta Sans SemiBold"/>
                        </a:rPr>
                        <a:t>Algorithm Evaluated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FFFFFF"/>
                          </a:solidFill>
                          <a:latin typeface="Plus Jakarta Sans SemiBold"/>
                        </a:rPr>
                        <a:t>Sensitivity (Recall)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FFFFFF"/>
                          </a:solidFill>
                          <a:latin typeface="Plus Jakarta Sans SemiBold"/>
                        </a:rPr>
                        <a:t>Specificity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FFFFFF"/>
                          </a:solidFill>
                          <a:latin typeface="Plus Jakarta Sans SemiBold"/>
                        </a:rPr>
                        <a:t>ROC-AUC Score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FFFFFF"/>
                          </a:solidFill>
                          <a:latin typeface="Plus Jakarta Sans SemiBold"/>
                        </a:rPr>
                        <a:t>Clinical Suitability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 algn="l"/>
                      <a:r>
                        <a:rPr b="1" sz="1275" i="0" u="none">
                          <a:solidFill>
                            <a:srgbClr val="334155"/>
                          </a:solidFill>
                          <a:latin typeface="Inter"/>
                        </a:rPr>
                        <a:t>Random Forest (Tuned)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75" i="0" u="none">
                          <a:solidFill>
                            <a:srgbClr val="059669"/>
                          </a:solidFill>
                          <a:latin typeface="Inter"/>
                        </a:rPr>
                        <a:t>96.2%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334155"/>
                          </a:solidFill>
                          <a:latin typeface="Inter"/>
                        </a:rPr>
                        <a:t>88.4%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75" i="0" u="none">
                          <a:solidFill>
                            <a:srgbClr val="334155"/>
                          </a:solidFill>
                          <a:latin typeface="Inter"/>
                        </a:rPr>
                        <a:t>0.941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059669"/>
                          </a:solidFill>
                          <a:latin typeface="Inter SemiBold"/>
                        </a:rPr>
                        <a:t>Recommended Helper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334155"/>
                          </a:solidFill>
                          <a:latin typeface="Inter"/>
                        </a:rPr>
                        <a:t>Gradient Boosting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334155"/>
                          </a:solidFill>
                          <a:latin typeface="Inter"/>
                        </a:rPr>
                        <a:t>91.8%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334155"/>
                          </a:solidFill>
                          <a:latin typeface="Inter"/>
                        </a:rPr>
                        <a:t>89.1%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334155"/>
                          </a:solidFill>
                          <a:latin typeface="Inter"/>
                        </a:rPr>
                        <a:t>0.925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334155"/>
                          </a:solidFill>
                          <a:latin typeface="Inter"/>
                        </a:rPr>
                        <a:t>High Precision Focus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334155"/>
                          </a:solidFill>
                          <a:latin typeface="Inter"/>
                        </a:rPr>
                        <a:t>Logistic Regression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334155"/>
                          </a:solidFill>
                          <a:latin typeface="Inter"/>
                        </a:rPr>
                        <a:t>84.6%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334155"/>
                          </a:solidFill>
                          <a:latin typeface="Inter"/>
                        </a:rPr>
                        <a:t>81.2%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334155"/>
                          </a:solidFill>
                          <a:latin typeface="Inter"/>
                        </a:rPr>
                        <a:t>0.862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334155"/>
                          </a:solidFill>
                          <a:latin typeface="Inter"/>
                        </a:rPr>
                        <a:t>Baseline Benchmark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334155"/>
                          </a:solidFill>
                          <a:latin typeface="Inter"/>
                        </a:rPr>
                        <a:t>Un-tuned Initial Model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334155"/>
                          </a:solidFill>
                          <a:latin typeface="Inter"/>
                        </a:rPr>
                        <a:t>52.3%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334155"/>
                          </a:solidFill>
                          <a:latin typeface="Inter"/>
                        </a:rPr>
                        <a:t>51.0%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334155"/>
                          </a:solidFill>
                          <a:latin typeface="Inter"/>
                        </a:rPr>
                        <a:t>0.522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334155"/>
                          </a:solidFill>
                          <a:latin typeface="Inter"/>
                        </a:rPr>
                        <a:t>Unsafe (Feature Leakage)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571500" y="2919412"/>
            <a:ext cx="26577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29272" y="2919412"/>
            <a:ext cx="21005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29832" y="2919412"/>
            <a:ext cx="143901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768851" y="2919412"/>
            <a:ext cx="194979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18649" y="2919412"/>
            <a:ext cx="29018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3476625"/>
            <a:ext cx="26577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29272" y="3476625"/>
            <a:ext cx="21005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29832" y="3476625"/>
            <a:ext cx="143901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768851" y="3476625"/>
            <a:ext cx="194979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18649" y="3476625"/>
            <a:ext cx="29018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1500" y="4033837"/>
            <a:ext cx="26577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29272" y="4033837"/>
            <a:ext cx="21005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329832" y="4033837"/>
            <a:ext cx="143901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768851" y="4033837"/>
            <a:ext cx="194979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18649" y="4033837"/>
            <a:ext cx="29018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71500" y="4591050"/>
            <a:ext cx="26577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29272" y="4591050"/>
            <a:ext cx="21005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329832" y="4591050"/>
            <a:ext cx="143901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768851" y="4591050"/>
            <a:ext cx="194979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18649" y="4591050"/>
            <a:ext cx="29018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71500" y="5148262"/>
            <a:ext cx="26577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29272" y="5148262"/>
            <a:ext cx="21005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329832" y="5148262"/>
            <a:ext cx="143901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768851" y="5148262"/>
            <a:ext cx="194979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718649" y="5148262"/>
            <a:ext cx="29018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Model Evaluation Metrics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86500" y="2169318"/>
            <a:ext cx="56007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0369A1"/>
                </a:solidFill>
                <a:latin typeface="Plus Jakarta Sans SemiBold"/>
              </a:rPr>
              <a:t>Human-in-the-Loop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86500" y="2531268"/>
            <a:ext cx="5334000" cy="728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Inter"/>
              </a:rPr>
              <a:t>This software pipeline is engineered strictly as an auxiliary aid to medical professionals and does not make autonomous clinical treatments.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966912"/>
            <a:ext cx="5334000" cy="3619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629400" y="3412331"/>
            <a:ext cx="49911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34155"/>
                </a:solidFill>
                <a:latin typeface="Inter"/>
              </a:rPr>
              <a:t>Probability Score Output:</a:t>
            </a:r>
            <a:r>
              <a:rPr b="0" sz="1275" i="0" u="none">
                <a:solidFill>
                  <a:srgbClr val="334155"/>
                </a:solidFill>
                <a:latin typeface="Inter"/>
              </a:rPr>
              <a:t> Returns continuous risk probabilities alongside binary flags.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29400" y="4069556"/>
            <a:ext cx="49911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34155"/>
                </a:solidFill>
                <a:latin typeface="Inter"/>
              </a:rPr>
              <a:t>Pipeline Persistence:</a:t>
            </a:r>
            <a:r>
              <a:rPr b="0" sz="1275" i="0" u="none">
                <a:solidFill>
                  <a:srgbClr val="334155"/>
                </a:solidFill>
                <a:latin typeface="Inter"/>
              </a:rPr>
              <a:t> Saved via </a:t>
            </a:r>
            <a:r>
              <a:rPr b="0" sz="1275" i="0" u="none">
                <a:solidFill>
                  <a:srgbClr val="334155"/>
                </a:solidFill>
                <a:latin typeface="Inter"/>
              </a:rPr>
              <a:t>joblib</a:t>
            </a:r>
            <a:r>
              <a:rPr b="0" sz="1275" i="0" u="none">
                <a:solidFill>
                  <a:srgbClr val="334155"/>
                </a:solidFill>
                <a:latin typeface="Inter"/>
              </a:rPr>
              <a:t> with complete verification checks.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4726781"/>
            <a:ext cx="49911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34155"/>
                </a:solidFill>
                <a:latin typeface="Inter"/>
              </a:rPr>
              <a:t>Triage Guidance:</a:t>
            </a:r>
            <a:r>
              <a:rPr b="0" sz="1275" i="0" u="none">
                <a:solidFill>
                  <a:srgbClr val="334155"/>
                </a:solidFill>
                <a:latin typeface="Inter"/>
              </a:rPr>
              <a:t> Accelerates physician assessment for priority emergency care.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3436143"/>
            <a:ext cx="190500" cy="2000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4093368"/>
            <a:ext cx="190500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0" y="4750593"/>
            <a:ext cx="238125" cy="2000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Clinical Decision Support Safety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738437"/>
            <a:ext cx="5334000" cy="20764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859881"/>
            <a:ext cx="5334000" cy="18335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85825" y="3052762"/>
            <a:ext cx="4940617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0369A1"/>
                </a:solidFill>
                <a:latin typeface="Plus Jakarta Sans SemiBold"/>
              </a:rPr>
              <a:t>Pipeline Serialization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5825" y="3414712"/>
            <a:ext cx="4705350" cy="971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Inter"/>
              </a:rPr>
              <a:t>The entire data preprocessing, encoding, scaling, and classification steps are serialized together into </a:t>
            </a:r>
            <a:r>
              <a:rPr b="0" sz="1275" i="0" u="none">
                <a:solidFill>
                  <a:srgbClr val="334155"/>
                </a:solidFill>
                <a:latin typeface="Inter"/>
              </a:rPr>
              <a:t>malaria_triage_binary_pipeline.pkl</a:t>
            </a:r>
            <a:r>
              <a:rPr b="0" sz="1275" i="0" u="none">
                <a:solidFill>
                  <a:srgbClr val="334155"/>
                </a:solidFill>
                <a:latin typeface="Inter"/>
              </a:rPr>
              <a:t> to prevent training-serving skew.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0825" y="3174206"/>
            <a:ext cx="4940617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0369A1"/>
                </a:solidFill>
                <a:latin typeface="Plus Jakarta Sans SemiBold"/>
              </a:rPr>
              <a:t>Unit Testing &amp; 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825" y="3536156"/>
            <a:ext cx="4705350" cy="728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Inter"/>
              </a:rPr>
              <a:t>Sanity assertion checks run during initialization verify that reloaded pipeline predictions match exact patient evaluation outputs, passing all clinical execution benchmarks.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Deployment &amp; Sanity Verification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5275" y="476250"/>
            <a:ext cx="11601450" cy="866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5400" i="0" u="none">
                <a:solidFill>
                  <a:srgbClr val="FFFFFF"/>
                </a:solidFill>
                <a:latin typeface="Plus Jakarta Sans"/>
              </a:rP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495425"/>
            <a:ext cx="110490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b="0" sz="1650" i="0" u="none">
                <a:solidFill>
                  <a:srgbClr val="94A3B8"/>
                </a:solidFill>
                <a:latin typeface="Inter"/>
              </a:rPr>
              <a:t>AI-Powered Malaria Triage Helper • Enhancing Patient Safety Through Machine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2190750"/>
            <a:ext cx="110490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38BDF8"/>
                </a:solidFill>
                <a:latin typeface="Inter SemiBold"/>
              </a:rPr>
              <a:t>Clinical AI System Brief • Binary Classification Pipeline Verification Complete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2538412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3309937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33004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33004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407193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407193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681287"/>
            <a:ext cx="857250" cy="4762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66875" y="2688431"/>
            <a:ext cx="995362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Inter"/>
              </a:rPr>
              <a:t>https://www.iatrox.com/_next/image?url=https%3A%2F%2Fwww.iatrox.com%2Fimages%2FMedicalImage372.png&amp;w=3840&amp;q=75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6875" y="2921793"/>
            <a:ext cx="99536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www.iatrox.com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452812"/>
            <a:ext cx="857250" cy="4762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666875" y="3459956"/>
            <a:ext cx="995362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Inter"/>
              </a:rPr>
              <a:t>https://sohoinsider.com/wp-content/uploads/2025/06/microscope-scaled.jpeg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6875" y="3693318"/>
            <a:ext cx="99536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sohoinsider.com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310062"/>
            <a:ext cx="857250" cy="4762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666875" y="4224337"/>
            <a:ext cx="9953625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Inter"/>
              </a:rPr>
              <a:t>https://prdncusrmfcmecraftsa001.blob.core.windows.net/assets/articles/no-issue/evaluation-and-management-of-abnormal-uterine-bleeding-in-nonpregnant-patients-a-detailed-review/_1200x630_crop_center-center_82_none/doctor-with-female-patient-in-hospital_GettyImages-2214748354.jpg?mtime=1754920526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66875" y="4643437"/>
            <a:ext cx="99536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www.clinician.com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Image Sources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